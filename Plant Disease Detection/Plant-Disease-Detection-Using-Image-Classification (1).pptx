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0" Type="http://schemas.openxmlformats.org/officeDocument/2006/relationships/tableStyles" Target="tableStyle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1.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p:spPr>
      </p:sp>
      <p:sp>
        <p:nvSpPr>
          <p:cNvPr id="3" name="Shape 1"/>
          <p:cNvSpPr/>
          <p:nvPr/>
        </p:nvSpPr>
        <p:spPr>
          <a:xfrm>
            <a:off x="0" y="0"/>
            <a:ext cx="14630400" cy="8229600"/>
          </a:xfrm>
          <a:prstGeom prst="rect">
            <a:avLst/>
          </a:prstGeom>
          <a:solidFill>
            <a:srgbClr val="27272B"/>
          </a:solidFill>
        </p:spPr>
      </p:sp>
      <p:pic>
        <p:nvPicPr>
          <p:cNvPr id="4" name="Image 0" descr="preencoded.png"/>
          <p:cNvPicPr>
            <a:picLocks noChangeAspect="1"/>
          </p:cNvPicPr>
          <p:nvPr/>
        </p:nvPicPr>
        <p:blipFill>
          <a:blip r:embed="rId1"/>
          <a:stretch>
            <a:fillRect/>
          </a:stretch>
        </p:blipFill>
        <p:spPr>
          <a:xfrm>
            <a:off x="9144000" y="0"/>
            <a:ext cx="5486400" cy="8229600"/>
          </a:xfrm>
          <a:prstGeom prst="rect">
            <a:avLst/>
          </a:prstGeom>
        </p:spPr>
      </p:pic>
      <p:sp>
        <p:nvSpPr>
          <p:cNvPr id="5" name="Text 2"/>
          <p:cNvSpPr/>
          <p:nvPr/>
        </p:nvSpPr>
        <p:spPr>
          <a:xfrm>
            <a:off x="864037" y="1484709"/>
            <a:ext cx="7415927" cy="3785235"/>
          </a:xfrm>
          <a:prstGeom prst="rect">
            <a:avLst/>
          </a:prstGeom>
          <a:noFill/>
        </p:spPr>
        <p:txBody>
          <a:bodyPr wrap="square" rtlCol="0" anchor="t"/>
          <a:lstStyle/>
          <a:p>
            <a:pPr marL="0" indent="0">
              <a:lnSpc>
                <a:spcPts val="7450"/>
              </a:lnSpc>
              <a:buNone/>
            </a:pPr>
            <a:r>
              <a:rPr lang="en-US" sz="5960" b="1" dirty="0">
                <a:solidFill>
                  <a:srgbClr val="FFE14D"/>
                </a:solidFill>
                <a:latin typeface="Comfortaa" pitchFamily="34" charset="0"/>
                <a:ea typeface="Comfortaa" pitchFamily="34" charset="-122"/>
                <a:cs typeface="Comfortaa" pitchFamily="34" charset="-120"/>
              </a:rPr>
              <a:t>Plant Disease Detection Using Image Classification</a:t>
            </a:r>
            <a:endParaRPr lang="en-US" sz="5960" dirty="0"/>
          </a:p>
        </p:txBody>
      </p:sp>
      <p:sp>
        <p:nvSpPr>
          <p:cNvPr id="6" name="Text 3"/>
          <p:cNvSpPr/>
          <p:nvPr/>
        </p:nvSpPr>
        <p:spPr>
          <a:xfrm>
            <a:off x="864037" y="5640229"/>
            <a:ext cx="7415927" cy="395049"/>
          </a:xfrm>
          <a:prstGeom prst="rect">
            <a:avLst/>
          </a:prstGeom>
          <a:noFill/>
        </p:spPr>
        <p:txBody>
          <a:bodyPr wrap="none" rtlCol="0" anchor="t"/>
          <a:lstStyle/>
          <a:p>
            <a:pPr marL="0" indent="0">
              <a:lnSpc>
                <a:spcPts val="3110"/>
              </a:lnSpc>
              <a:buNone/>
            </a:pPr>
            <a:r>
              <a:rPr lang="en-US" sz="1945" dirty="0">
                <a:solidFill>
                  <a:srgbClr val="D7D4CC"/>
                </a:solidFill>
                <a:latin typeface="Raleway" pitchFamily="34" charset="0"/>
                <a:ea typeface="Raleway" pitchFamily="34" charset="-122"/>
                <a:cs typeface="Raleway" pitchFamily="34" charset="-120"/>
              </a:rPr>
              <a:t>A Computer Vision Approach</a:t>
            </a:r>
            <a:endParaRPr lang="en-US" sz="1945" dirty="0"/>
          </a:p>
        </p:txBody>
      </p:sp>
      <p:sp>
        <p:nvSpPr>
          <p:cNvPr id="7" name="Shape 4"/>
          <p:cNvSpPr/>
          <p:nvPr/>
        </p:nvSpPr>
        <p:spPr>
          <a:xfrm>
            <a:off x="864037" y="6331387"/>
            <a:ext cx="394930" cy="394930"/>
          </a:xfrm>
          <a:prstGeom prst="roundRect">
            <a:avLst>
              <a:gd name="adj" fmla="val 23151155"/>
            </a:avLst>
          </a:prstGeom>
          <a:noFill/>
          <a:ln w="7620">
            <a:solidFill>
              <a:srgbClr val="FFFFFF"/>
            </a:solidFill>
            <a:prstDash val="solid"/>
          </a:ln>
        </p:spPr>
      </p:sp>
      <p:pic>
        <p:nvPicPr>
          <p:cNvPr id="8" name="Image 1" descr="preencoded.png"/>
          <p:cNvPicPr>
            <a:picLocks noChangeAspect="1"/>
          </p:cNvPicPr>
          <p:nvPr/>
        </p:nvPicPr>
        <p:blipFill>
          <a:blip r:embed="rId2"/>
          <a:stretch>
            <a:fillRect/>
          </a:stretch>
        </p:blipFill>
        <p:spPr>
          <a:xfrm>
            <a:off x="871657" y="6339007"/>
            <a:ext cx="379690" cy="379690"/>
          </a:xfrm>
          <a:prstGeom prst="rect">
            <a:avLst/>
          </a:prstGeom>
        </p:spPr>
      </p:pic>
      <p:sp>
        <p:nvSpPr>
          <p:cNvPr id="9" name="Text 5"/>
          <p:cNvSpPr/>
          <p:nvPr/>
        </p:nvSpPr>
        <p:spPr>
          <a:xfrm>
            <a:off x="1382316" y="6312932"/>
            <a:ext cx="2398276" cy="431959"/>
          </a:xfrm>
          <a:prstGeom prst="rect">
            <a:avLst/>
          </a:prstGeom>
          <a:noFill/>
        </p:spPr>
        <p:txBody>
          <a:bodyPr wrap="none" rtlCol="0" anchor="t"/>
          <a:lstStyle/>
          <a:p>
            <a:pPr marL="0" indent="0" algn="l">
              <a:lnSpc>
                <a:spcPts val="3400"/>
              </a:lnSpc>
              <a:buNone/>
            </a:pPr>
            <a:r>
              <a:rPr lang="en-US" sz="2430" b="1" dirty="0">
                <a:solidFill>
                  <a:srgbClr val="D7D4CC"/>
                </a:solidFill>
                <a:latin typeface="Raleway" pitchFamily="34" charset="0"/>
                <a:ea typeface="Raleway" pitchFamily="34" charset="-122"/>
                <a:cs typeface="Raleway" pitchFamily="34" charset="-120"/>
              </a:rPr>
              <a:t>by Naman Singh</a:t>
            </a:r>
            <a:endParaRPr lang="en-US" sz="243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p:spPr>
      </p:sp>
      <p:sp>
        <p:nvSpPr>
          <p:cNvPr id="3" name="Shape 1"/>
          <p:cNvSpPr/>
          <p:nvPr/>
        </p:nvSpPr>
        <p:spPr>
          <a:xfrm>
            <a:off x="0" y="0"/>
            <a:ext cx="14630400" cy="8229600"/>
          </a:xfrm>
          <a:prstGeom prst="rect">
            <a:avLst/>
          </a:prstGeom>
          <a:solidFill>
            <a:srgbClr val="27272B"/>
          </a:solidFill>
        </p:spPr>
      </p:sp>
      <p:pic>
        <p:nvPicPr>
          <p:cNvPr id="4" name="Image 0" descr="preencoded.png"/>
          <p:cNvPicPr>
            <a:picLocks noChangeAspect="1"/>
          </p:cNvPicPr>
          <p:nvPr/>
        </p:nvPicPr>
        <p:blipFill>
          <a:blip r:embed="rId1"/>
          <a:stretch>
            <a:fillRect/>
          </a:stretch>
        </p:blipFill>
        <p:spPr>
          <a:xfrm>
            <a:off x="0" y="0"/>
            <a:ext cx="14630400" cy="3086100"/>
          </a:xfrm>
          <a:prstGeom prst="rect">
            <a:avLst/>
          </a:prstGeom>
        </p:spPr>
      </p:pic>
      <p:sp>
        <p:nvSpPr>
          <p:cNvPr id="5" name="Text 2"/>
          <p:cNvSpPr/>
          <p:nvPr/>
        </p:nvSpPr>
        <p:spPr>
          <a:xfrm>
            <a:off x="1321356" y="4003358"/>
            <a:ext cx="5486400" cy="685800"/>
          </a:xfrm>
          <a:prstGeom prst="rect">
            <a:avLst/>
          </a:prstGeom>
          <a:noFill/>
        </p:spPr>
        <p:txBody>
          <a:bodyPr wrap="none" rtlCol="0" anchor="t"/>
          <a:lstStyle/>
          <a:p>
            <a:pPr marL="0" indent="0">
              <a:lnSpc>
                <a:spcPts val="5400"/>
              </a:lnSpc>
              <a:buNone/>
            </a:pPr>
            <a:r>
              <a:rPr lang="en-US" sz="4320" b="1" dirty="0">
                <a:solidFill>
                  <a:srgbClr val="FFE14D"/>
                </a:solidFill>
                <a:latin typeface="Comfortaa" pitchFamily="34" charset="0"/>
                <a:ea typeface="Comfortaa" pitchFamily="34" charset="-122"/>
                <a:cs typeface="Comfortaa" pitchFamily="34" charset="-120"/>
              </a:rPr>
              <a:t>Problem Statement</a:t>
            </a:r>
            <a:endParaRPr lang="en-US" sz="4320" dirty="0"/>
          </a:p>
        </p:txBody>
      </p:sp>
      <p:sp>
        <p:nvSpPr>
          <p:cNvPr id="6" name="Text 3"/>
          <p:cNvSpPr/>
          <p:nvPr/>
        </p:nvSpPr>
        <p:spPr>
          <a:xfrm>
            <a:off x="1321356" y="5059442"/>
            <a:ext cx="11987689" cy="1185148"/>
          </a:xfrm>
          <a:prstGeom prst="rect">
            <a:avLst/>
          </a:prstGeom>
          <a:noFill/>
        </p:spPr>
        <p:txBody>
          <a:bodyPr wrap="square" rtlCol="0" anchor="t"/>
          <a:lstStyle/>
          <a:p>
            <a:pPr marL="0" indent="0">
              <a:lnSpc>
                <a:spcPts val="3110"/>
              </a:lnSpc>
              <a:buNone/>
            </a:pPr>
            <a:r>
              <a:rPr lang="en-US" sz="1945" dirty="0">
                <a:solidFill>
                  <a:srgbClr val="D7D4CC"/>
                </a:solidFill>
                <a:latin typeface="Raleway" pitchFamily="34" charset="0"/>
                <a:ea typeface="Raleway" pitchFamily="34" charset="-122"/>
                <a:cs typeface="Raleway" pitchFamily="34" charset="-120"/>
              </a:rPr>
              <a:t>Agriculture is a critical sector, and plant diseases can cause significant losses in crop yield. Early and accurate detection of plant diseases is essential for ensuring food security. Traditional methods of disease identification are time-consuming and require expert knowledge.</a:t>
            </a:r>
            <a:endParaRPr lang="en-US" sz="1945" dirty="0"/>
          </a:p>
        </p:txBody>
      </p:sp>
      <p:sp>
        <p:nvSpPr>
          <p:cNvPr id="7" name="Text 4"/>
          <p:cNvSpPr/>
          <p:nvPr/>
        </p:nvSpPr>
        <p:spPr>
          <a:xfrm>
            <a:off x="1321356" y="6522244"/>
            <a:ext cx="11987689" cy="790099"/>
          </a:xfrm>
          <a:prstGeom prst="rect">
            <a:avLst/>
          </a:prstGeom>
          <a:noFill/>
        </p:spPr>
        <p:txBody>
          <a:bodyPr wrap="square" rtlCol="0" anchor="t"/>
          <a:lstStyle/>
          <a:p>
            <a:pPr marL="0" indent="0">
              <a:lnSpc>
                <a:spcPts val="3110"/>
              </a:lnSpc>
              <a:buNone/>
            </a:pPr>
            <a:r>
              <a:rPr lang="en-US" sz="1945" dirty="0">
                <a:solidFill>
                  <a:srgbClr val="D7D4CC"/>
                </a:solidFill>
                <a:latin typeface="Raleway" pitchFamily="34" charset="0"/>
                <a:ea typeface="Raleway" pitchFamily="34" charset="-122"/>
                <a:cs typeface="Raleway" pitchFamily="34" charset="-120"/>
              </a:rPr>
              <a:t>Objective: Develop an automated system that can accurately identify plant diseases using image classification.</a:t>
            </a:r>
            <a:endParaRPr lang="en-US" sz="194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p:spPr>
      </p:sp>
      <p:sp>
        <p:nvSpPr>
          <p:cNvPr id="3" name="Shape 1"/>
          <p:cNvSpPr/>
          <p:nvPr/>
        </p:nvSpPr>
        <p:spPr>
          <a:xfrm>
            <a:off x="0" y="0"/>
            <a:ext cx="14630400" cy="8860274"/>
          </a:xfrm>
          <a:prstGeom prst="rect">
            <a:avLst/>
          </a:prstGeom>
          <a:solidFill>
            <a:srgbClr val="27272B"/>
          </a:solidFill>
        </p:spPr>
      </p:sp>
      <p:pic>
        <p:nvPicPr>
          <p:cNvPr id="4" name="Image 0" descr="preencoded.png"/>
          <p:cNvPicPr>
            <a:picLocks noChangeAspect="1"/>
          </p:cNvPicPr>
          <p:nvPr/>
        </p:nvPicPr>
        <p:blipFill>
          <a:blip r:embed="rId1"/>
          <a:stretch>
            <a:fillRect/>
          </a:stretch>
        </p:blipFill>
        <p:spPr>
          <a:xfrm>
            <a:off x="0" y="0"/>
            <a:ext cx="14630400" cy="2160270"/>
          </a:xfrm>
          <a:prstGeom prst="rect">
            <a:avLst/>
          </a:prstGeom>
        </p:spPr>
      </p:pic>
      <p:sp>
        <p:nvSpPr>
          <p:cNvPr id="5" name="Text 2"/>
          <p:cNvSpPr/>
          <p:nvPr/>
        </p:nvSpPr>
        <p:spPr>
          <a:xfrm>
            <a:off x="3119437" y="2635448"/>
            <a:ext cx="3840480" cy="480060"/>
          </a:xfrm>
          <a:prstGeom prst="rect">
            <a:avLst/>
          </a:prstGeom>
          <a:noFill/>
        </p:spPr>
        <p:txBody>
          <a:bodyPr wrap="none" rtlCol="0" anchor="t"/>
          <a:lstStyle/>
          <a:p>
            <a:pPr marL="0" indent="0">
              <a:lnSpc>
                <a:spcPts val="3780"/>
              </a:lnSpc>
              <a:buNone/>
            </a:pPr>
            <a:r>
              <a:rPr lang="en-US" sz="3025" b="1" dirty="0">
                <a:solidFill>
                  <a:srgbClr val="FFE14D"/>
                </a:solidFill>
                <a:latin typeface="Comfortaa" pitchFamily="34" charset="0"/>
                <a:ea typeface="Comfortaa" pitchFamily="34" charset="-122"/>
                <a:cs typeface="Comfortaa" pitchFamily="34" charset="-120"/>
              </a:rPr>
              <a:t>Proposed Solution</a:t>
            </a:r>
            <a:endParaRPr lang="en-US" sz="3025" dirty="0"/>
          </a:p>
        </p:txBody>
      </p:sp>
      <p:pic>
        <p:nvPicPr>
          <p:cNvPr id="6" name="Image 1" descr="preencoded.png"/>
          <p:cNvPicPr>
            <a:picLocks noChangeAspect="1"/>
          </p:cNvPicPr>
          <p:nvPr/>
        </p:nvPicPr>
        <p:blipFill>
          <a:blip r:embed="rId2"/>
          <a:stretch>
            <a:fillRect/>
          </a:stretch>
        </p:blipFill>
        <p:spPr>
          <a:xfrm>
            <a:off x="3119437" y="3374708"/>
            <a:ext cx="2624257" cy="2624257"/>
          </a:xfrm>
          <a:prstGeom prst="rect">
            <a:avLst/>
          </a:prstGeom>
        </p:spPr>
      </p:pic>
      <p:sp>
        <p:nvSpPr>
          <p:cNvPr id="7" name="Text 3"/>
          <p:cNvSpPr/>
          <p:nvPr/>
        </p:nvSpPr>
        <p:spPr>
          <a:xfrm>
            <a:off x="3119437" y="6214943"/>
            <a:ext cx="2624257" cy="720090"/>
          </a:xfrm>
          <a:prstGeom prst="rect">
            <a:avLst/>
          </a:prstGeom>
          <a:noFill/>
        </p:spPr>
        <p:txBody>
          <a:bodyPr wrap="square" rtlCol="0" anchor="t"/>
          <a:lstStyle/>
          <a:p>
            <a:pPr marL="0" indent="0" algn="ctr">
              <a:lnSpc>
                <a:spcPts val="1890"/>
              </a:lnSpc>
              <a:buNone/>
            </a:pPr>
            <a:r>
              <a:rPr lang="en-US" sz="1510" b="1" dirty="0">
                <a:solidFill>
                  <a:srgbClr val="D7D4CC"/>
                </a:solidFill>
                <a:latin typeface="Comfortaa" pitchFamily="34" charset="0"/>
                <a:ea typeface="Comfortaa" pitchFamily="34" charset="-122"/>
                <a:cs typeface="Comfortaa" pitchFamily="34" charset="-120"/>
              </a:rPr>
              <a:t>Utilizes a Vision Transformer model for high accuracy</a:t>
            </a:r>
            <a:endParaRPr lang="en-US" sz="1510" dirty="0"/>
          </a:p>
        </p:txBody>
      </p:sp>
      <p:sp>
        <p:nvSpPr>
          <p:cNvPr id="8" name="Text 4"/>
          <p:cNvSpPr/>
          <p:nvPr/>
        </p:nvSpPr>
        <p:spPr>
          <a:xfrm>
            <a:off x="3119437" y="7038618"/>
            <a:ext cx="2624257" cy="1106329"/>
          </a:xfrm>
          <a:prstGeom prst="rect">
            <a:avLst/>
          </a:prstGeom>
          <a:noFill/>
        </p:spPr>
        <p:txBody>
          <a:bodyPr wrap="square" rtlCol="0" anchor="t"/>
          <a:lstStyle/>
          <a:p>
            <a:pPr marL="0" indent="0" algn="ctr">
              <a:lnSpc>
                <a:spcPts val="2175"/>
              </a:lnSpc>
              <a:buNone/>
            </a:pPr>
            <a:r>
              <a:rPr lang="en-US" sz="1360" dirty="0">
                <a:solidFill>
                  <a:srgbClr val="D7D4CC"/>
                </a:solidFill>
                <a:latin typeface="Raleway" pitchFamily="34" charset="0"/>
                <a:ea typeface="Raleway" pitchFamily="34" charset="-122"/>
                <a:cs typeface="Raleway" pitchFamily="34" charset="-120"/>
              </a:rPr>
              <a:t>Our model is trained on a diverse dataset of plant leaf images, representing different diseases.</a:t>
            </a:r>
            <a:endParaRPr lang="en-US" sz="1360" dirty="0"/>
          </a:p>
        </p:txBody>
      </p:sp>
      <p:pic>
        <p:nvPicPr>
          <p:cNvPr id="9" name="Image 2" descr="preencoded.png"/>
          <p:cNvPicPr>
            <a:picLocks noChangeAspect="1"/>
          </p:cNvPicPr>
          <p:nvPr/>
        </p:nvPicPr>
        <p:blipFill>
          <a:blip r:embed="rId3"/>
          <a:stretch>
            <a:fillRect/>
          </a:stretch>
        </p:blipFill>
        <p:spPr>
          <a:xfrm>
            <a:off x="6002893" y="3374708"/>
            <a:ext cx="2624376" cy="2624376"/>
          </a:xfrm>
          <a:prstGeom prst="rect">
            <a:avLst/>
          </a:prstGeom>
        </p:spPr>
      </p:pic>
      <p:sp>
        <p:nvSpPr>
          <p:cNvPr id="10" name="Text 5"/>
          <p:cNvSpPr/>
          <p:nvPr/>
        </p:nvSpPr>
        <p:spPr>
          <a:xfrm>
            <a:off x="6002893" y="6215062"/>
            <a:ext cx="2624376" cy="480060"/>
          </a:xfrm>
          <a:prstGeom prst="rect">
            <a:avLst/>
          </a:prstGeom>
          <a:noFill/>
        </p:spPr>
        <p:txBody>
          <a:bodyPr wrap="square" rtlCol="0" anchor="t"/>
          <a:lstStyle/>
          <a:p>
            <a:pPr marL="0" indent="0" algn="ctr">
              <a:lnSpc>
                <a:spcPts val="1890"/>
              </a:lnSpc>
              <a:buNone/>
            </a:pPr>
            <a:r>
              <a:rPr lang="en-US" sz="1510" b="1" dirty="0">
                <a:solidFill>
                  <a:srgbClr val="D7D4CC"/>
                </a:solidFill>
                <a:latin typeface="Comfortaa" pitchFamily="34" charset="0"/>
                <a:ea typeface="Comfortaa" pitchFamily="34" charset="-122"/>
                <a:cs typeface="Comfortaa" pitchFamily="34" charset="-120"/>
              </a:rPr>
              <a:t>Capable of identifying 28 different plant diseases</a:t>
            </a:r>
            <a:endParaRPr lang="en-US" sz="1510" dirty="0"/>
          </a:p>
        </p:txBody>
      </p:sp>
      <p:sp>
        <p:nvSpPr>
          <p:cNvPr id="11" name="Text 6"/>
          <p:cNvSpPr/>
          <p:nvPr/>
        </p:nvSpPr>
        <p:spPr>
          <a:xfrm>
            <a:off x="6002893" y="6798707"/>
            <a:ext cx="2624376" cy="829747"/>
          </a:xfrm>
          <a:prstGeom prst="rect">
            <a:avLst/>
          </a:prstGeom>
          <a:noFill/>
        </p:spPr>
        <p:txBody>
          <a:bodyPr wrap="square" rtlCol="0" anchor="t"/>
          <a:lstStyle/>
          <a:p>
            <a:pPr marL="0" indent="0" algn="ctr">
              <a:lnSpc>
                <a:spcPts val="2175"/>
              </a:lnSpc>
              <a:buNone/>
            </a:pPr>
            <a:r>
              <a:rPr lang="en-US" sz="1360" dirty="0">
                <a:solidFill>
                  <a:srgbClr val="D7D4CC"/>
                </a:solidFill>
                <a:latin typeface="Raleway" pitchFamily="34" charset="0"/>
                <a:ea typeface="Raleway" pitchFamily="34" charset="-122"/>
                <a:cs typeface="Raleway" pitchFamily="34" charset="-120"/>
              </a:rPr>
              <a:t>The system can accurately detect and classify a wide range of plant diseases.</a:t>
            </a:r>
            <a:endParaRPr lang="en-US" sz="1360" dirty="0"/>
          </a:p>
        </p:txBody>
      </p:sp>
      <p:pic>
        <p:nvPicPr>
          <p:cNvPr id="12" name="Image 3" descr="preencoded.png"/>
          <p:cNvPicPr>
            <a:picLocks noChangeAspect="1"/>
          </p:cNvPicPr>
          <p:nvPr/>
        </p:nvPicPr>
        <p:blipFill>
          <a:blip r:embed="rId4"/>
          <a:stretch>
            <a:fillRect/>
          </a:stretch>
        </p:blipFill>
        <p:spPr>
          <a:xfrm>
            <a:off x="8886468" y="3374708"/>
            <a:ext cx="2624376" cy="2624376"/>
          </a:xfrm>
          <a:prstGeom prst="rect">
            <a:avLst/>
          </a:prstGeom>
        </p:spPr>
      </p:pic>
      <p:sp>
        <p:nvSpPr>
          <p:cNvPr id="13" name="Text 7"/>
          <p:cNvSpPr/>
          <p:nvPr/>
        </p:nvSpPr>
        <p:spPr>
          <a:xfrm>
            <a:off x="8886468" y="6215062"/>
            <a:ext cx="2624376" cy="960120"/>
          </a:xfrm>
          <a:prstGeom prst="rect">
            <a:avLst/>
          </a:prstGeom>
          <a:noFill/>
        </p:spPr>
        <p:txBody>
          <a:bodyPr wrap="square" rtlCol="0" anchor="t"/>
          <a:lstStyle/>
          <a:p>
            <a:pPr marL="0" indent="0" algn="ctr">
              <a:lnSpc>
                <a:spcPts val="1890"/>
              </a:lnSpc>
              <a:buNone/>
            </a:pPr>
            <a:r>
              <a:rPr lang="en-US" sz="1510" b="1" dirty="0">
                <a:solidFill>
                  <a:srgbClr val="D7D4CC"/>
                </a:solidFill>
                <a:latin typeface="Comfortaa" pitchFamily="34" charset="0"/>
                <a:ea typeface="Comfortaa" pitchFamily="34" charset="-122"/>
                <a:cs typeface="Comfortaa" pitchFamily="34" charset="-120"/>
              </a:rPr>
              <a:t>Deployed as an interactive web application using Gradio for real-time predictions</a:t>
            </a:r>
            <a:endParaRPr lang="en-US" sz="1510" dirty="0"/>
          </a:p>
        </p:txBody>
      </p:sp>
      <p:sp>
        <p:nvSpPr>
          <p:cNvPr id="14" name="Text 8"/>
          <p:cNvSpPr/>
          <p:nvPr/>
        </p:nvSpPr>
        <p:spPr>
          <a:xfrm>
            <a:off x="8886468" y="7278767"/>
            <a:ext cx="2624376" cy="1106329"/>
          </a:xfrm>
          <a:prstGeom prst="rect">
            <a:avLst/>
          </a:prstGeom>
          <a:noFill/>
        </p:spPr>
        <p:txBody>
          <a:bodyPr wrap="square" rtlCol="0" anchor="t"/>
          <a:lstStyle/>
          <a:p>
            <a:pPr marL="0" indent="0" algn="ctr">
              <a:lnSpc>
                <a:spcPts val="2175"/>
              </a:lnSpc>
              <a:buNone/>
            </a:pPr>
            <a:r>
              <a:rPr lang="en-US" sz="1360" dirty="0">
                <a:solidFill>
                  <a:srgbClr val="D7D4CC"/>
                </a:solidFill>
                <a:latin typeface="Raleway" pitchFamily="34" charset="0"/>
                <a:ea typeface="Raleway" pitchFamily="34" charset="-122"/>
                <a:cs typeface="Raleway" pitchFamily="34" charset="-120"/>
              </a:rPr>
              <a:t>The solution is easily accessible and user-friendly, allowing for quick and efficient disease detection.</a:t>
            </a:r>
            <a:endParaRPr lang="en-US" sz="13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p:spPr>
      </p:sp>
      <p:sp>
        <p:nvSpPr>
          <p:cNvPr id="3" name="Shape 1"/>
          <p:cNvSpPr/>
          <p:nvPr/>
        </p:nvSpPr>
        <p:spPr>
          <a:xfrm>
            <a:off x="0" y="0"/>
            <a:ext cx="14630400" cy="8229600"/>
          </a:xfrm>
          <a:prstGeom prst="rect">
            <a:avLst/>
          </a:prstGeom>
          <a:solidFill>
            <a:srgbClr val="27272B"/>
          </a:solidFill>
        </p:spPr>
      </p:sp>
      <p:sp>
        <p:nvSpPr>
          <p:cNvPr id="4" name="Text 2"/>
          <p:cNvSpPr/>
          <p:nvPr/>
        </p:nvSpPr>
        <p:spPr>
          <a:xfrm>
            <a:off x="1321356" y="1400175"/>
            <a:ext cx="5486400" cy="685800"/>
          </a:xfrm>
          <a:prstGeom prst="rect">
            <a:avLst/>
          </a:prstGeom>
          <a:noFill/>
        </p:spPr>
        <p:txBody>
          <a:bodyPr wrap="none" rtlCol="0" anchor="t"/>
          <a:lstStyle/>
          <a:p>
            <a:pPr marL="0" indent="0">
              <a:lnSpc>
                <a:spcPts val="5400"/>
              </a:lnSpc>
              <a:buNone/>
            </a:pPr>
            <a:r>
              <a:rPr lang="en-US" sz="4320" b="1" dirty="0">
                <a:solidFill>
                  <a:srgbClr val="FFE14D"/>
                </a:solidFill>
                <a:latin typeface="Comfortaa" pitchFamily="34" charset="0"/>
                <a:ea typeface="Comfortaa" pitchFamily="34" charset="-122"/>
                <a:cs typeface="Comfortaa" pitchFamily="34" charset="-120"/>
              </a:rPr>
              <a:t>Technologies Used</a:t>
            </a:r>
            <a:endParaRPr lang="en-US" sz="4320" dirty="0"/>
          </a:p>
        </p:txBody>
      </p:sp>
      <p:pic>
        <p:nvPicPr>
          <p:cNvPr id="5" name="Image 0" descr="preencoded.png"/>
          <p:cNvPicPr>
            <a:picLocks noChangeAspect="1"/>
          </p:cNvPicPr>
          <p:nvPr/>
        </p:nvPicPr>
        <p:blipFill>
          <a:blip r:embed="rId1"/>
          <a:stretch>
            <a:fillRect/>
          </a:stretch>
        </p:blipFill>
        <p:spPr>
          <a:xfrm>
            <a:off x="1321356" y="2579727"/>
            <a:ext cx="3749040" cy="2317075"/>
          </a:xfrm>
          <a:prstGeom prst="rect">
            <a:avLst/>
          </a:prstGeom>
        </p:spPr>
      </p:pic>
      <p:sp>
        <p:nvSpPr>
          <p:cNvPr id="6" name="Text 3"/>
          <p:cNvSpPr/>
          <p:nvPr/>
        </p:nvSpPr>
        <p:spPr>
          <a:xfrm>
            <a:off x="1321356" y="5205413"/>
            <a:ext cx="3749040" cy="685800"/>
          </a:xfrm>
          <a:prstGeom prst="rect">
            <a:avLst/>
          </a:prstGeom>
          <a:noFill/>
        </p:spPr>
        <p:txBody>
          <a:bodyPr wrap="square" rtlCol="0" anchor="t"/>
          <a:lstStyle/>
          <a:p>
            <a:pPr marL="0" indent="0" algn="l">
              <a:lnSpc>
                <a:spcPts val="2700"/>
              </a:lnSpc>
              <a:buNone/>
            </a:pPr>
            <a:r>
              <a:rPr lang="en-US" sz="2160" b="1" dirty="0">
                <a:solidFill>
                  <a:srgbClr val="D7D4CC"/>
                </a:solidFill>
                <a:latin typeface="Comfortaa" pitchFamily="34" charset="0"/>
                <a:ea typeface="Comfortaa" pitchFamily="34" charset="-122"/>
                <a:cs typeface="Comfortaa" pitchFamily="34" charset="-120"/>
              </a:rPr>
              <a:t>Model Training and Evaluation</a:t>
            </a:r>
            <a:endParaRPr lang="en-US" sz="2160" dirty="0"/>
          </a:p>
        </p:txBody>
      </p:sp>
      <p:sp>
        <p:nvSpPr>
          <p:cNvPr id="7" name="Text 4"/>
          <p:cNvSpPr/>
          <p:nvPr/>
        </p:nvSpPr>
        <p:spPr>
          <a:xfrm>
            <a:off x="1321356" y="6039326"/>
            <a:ext cx="3749040" cy="790099"/>
          </a:xfrm>
          <a:prstGeom prst="rect">
            <a:avLst/>
          </a:prstGeom>
          <a:noFill/>
        </p:spPr>
        <p:txBody>
          <a:bodyPr wrap="square" rtlCol="0" anchor="t"/>
          <a:lstStyle/>
          <a:p>
            <a:pPr marL="0" indent="0" algn="l">
              <a:lnSpc>
                <a:spcPts val="3110"/>
              </a:lnSpc>
              <a:buNone/>
            </a:pPr>
            <a:r>
              <a:rPr lang="en-US" sz="1945" dirty="0">
                <a:solidFill>
                  <a:srgbClr val="D7D4CC"/>
                </a:solidFill>
                <a:latin typeface="Raleway" pitchFamily="34" charset="0"/>
                <a:ea typeface="Raleway" pitchFamily="34" charset="-122"/>
                <a:cs typeface="Raleway" pitchFamily="34" charset="-120"/>
              </a:rPr>
              <a:t>TensorFlow/Keras for model training and evaluation.</a:t>
            </a:r>
            <a:endParaRPr lang="en-US" sz="1945" dirty="0"/>
          </a:p>
        </p:txBody>
      </p:sp>
      <p:pic>
        <p:nvPicPr>
          <p:cNvPr id="8" name="Image 1" descr="preencoded.png"/>
          <p:cNvPicPr>
            <a:picLocks noChangeAspect="1"/>
          </p:cNvPicPr>
          <p:nvPr/>
        </p:nvPicPr>
        <p:blipFill>
          <a:blip r:embed="rId2"/>
          <a:stretch>
            <a:fillRect/>
          </a:stretch>
        </p:blipFill>
        <p:spPr>
          <a:xfrm>
            <a:off x="5440680" y="2579727"/>
            <a:ext cx="3749040" cy="2317075"/>
          </a:xfrm>
          <a:prstGeom prst="rect">
            <a:avLst/>
          </a:prstGeom>
        </p:spPr>
      </p:pic>
      <p:sp>
        <p:nvSpPr>
          <p:cNvPr id="9" name="Text 5"/>
          <p:cNvSpPr/>
          <p:nvPr/>
        </p:nvSpPr>
        <p:spPr>
          <a:xfrm>
            <a:off x="5440680" y="5205413"/>
            <a:ext cx="2913578" cy="342900"/>
          </a:xfrm>
          <a:prstGeom prst="rect">
            <a:avLst/>
          </a:prstGeom>
          <a:noFill/>
        </p:spPr>
        <p:txBody>
          <a:bodyPr wrap="none" rtlCol="0" anchor="t"/>
          <a:lstStyle/>
          <a:p>
            <a:pPr marL="0" indent="0" algn="l">
              <a:lnSpc>
                <a:spcPts val="2700"/>
              </a:lnSpc>
              <a:buNone/>
            </a:pPr>
            <a:r>
              <a:rPr lang="en-US" sz="2160" b="1" dirty="0">
                <a:solidFill>
                  <a:srgbClr val="D7D4CC"/>
                </a:solidFill>
                <a:latin typeface="Comfortaa" pitchFamily="34" charset="0"/>
                <a:ea typeface="Comfortaa" pitchFamily="34" charset="-122"/>
                <a:cs typeface="Comfortaa" pitchFamily="34" charset="-120"/>
              </a:rPr>
              <a:t>Image Classification</a:t>
            </a:r>
            <a:endParaRPr lang="en-US" sz="2160" dirty="0"/>
          </a:p>
        </p:txBody>
      </p:sp>
      <p:sp>
        <p:nvSpPr>
          <p:cNvPr id="10" name="Text 6"/>
          <p:cNvSpPr/>
          <p:nvPr/>
        </p:nvSpPr>
        <p:spPr>
          <a:xfrm>
            <a:off x="5440680" y="5696426"/>
            <a:ext cx="3749040" cy="790099"/>
          </a:xfrm>
          <a:prstGeom prst="rect">
            <a:avLst/>
          </a:prstGeom>
          <a:noFill/>
        </p:spPr>
        <p:txBody>
          <a:bodyPr wrap="square" rtlCol="0" anchor="t"/>
          <a:lstStyle/>
          <a:p>
            <a:pPr marL="0" indent="0" algn="l">
              <a:lnSpc>
                <a:spcPts val="3110"/>
              </a:lnSpc>
              <a:buNone/>
            </a:pPr>
            <a:r>
              <a:rPr lang="en-US" sz="1945" dirty="0">
                <a:solidFill>
                  <a:srgbClr val="D7D4CC"/>
                </a:solidFill>
                <a:latin typeface="Raleway" pitchFamily="34" charset="0"/>
                <a:ea typeface="Raleway" pitchFamily="34" charset="-122"/>
                <a:cs typeface="Raleway" pitchFamily="34" charset="-120"/>
              </a:rPr>
              <a:t>EfficientNetB0 for image classification.</a:t>
            </a:r>
            <a:endParaRPr lang="en-US" sz="1945" dirty="0"/>
          </a:p>
        </p:txBody>
      </p:sp>
      <p:pic>
        <p:nvPicPr>
          <p:cNvPr id="11" name="Image 2" descr="preencoded.png"/>
          <p:cNvPicPr>
            <a:picLocks noChangeAspect="1"/>
          </p:cNvPicPr>
          <p:nvPr/>
        </p:nvPicPr>
        <p:blipFill>
          <a:blip r:embed="rId3"/>
          <a:stretch>
            <a:fillRect/>
          </a:stretch>
        </p:blipFill>
        <p:spPr>
          <a:xfrm>
            <a:off x="9560004" y="2579727"/>
            <a:ext cx="3749040" cy="2317075"/>
          </a:xfrm>
          <a:prstGeom prst="rect">
            <a:avLst/>
          </a:prstGeom>
        </p:spPr>
      </p:pic>
      <p:sp>
        <p:nvSpPr>
          <p:cNvPr id="12" name="Text 7"/>
          <p:cNvSpPr/>
          <p:nvPr/>
        </p:nvSpPr>
        <p:spPr>
          <a:xfrm>
            <a:off x="9560004" y="5205413"/>
            <a:ext cx="2743200" cy="342900"/>
          </a:xfrm>
          <a:prstGeom prst="rect">
            <a:avLst/>
          </a:prstGeom>
          <a:noFill/>
        </p:spPr>
        <p:txBody>
          <a:bodyPr wrap="none" rtlCol="0" anchor="t"/>
          <a:lstStyle/>
          <a:p>
            <a:pPr marL="0" indent="0" algn="l">
              <a:lnSpc>
                <a:spcPts val="2700"/>
              </a:lnSpc>
              <a:buNone/>
            </a:pPr>
            <a:r>
              <a:rPr lang="en-US" sz="2160" b="1" dirty="0">
                <a:solidFill>
                  <a:srgbClr val="D7D4CC"/>
                </a:solidFill>
                <a:latin typeface="Comfortaa" pitchFamily="34" charset="0"/>
                <a:ea typeface="Comfortaa" pitchFamily="34" charset="-122"/>
                <a:cs typeface="Comfortaa" pitchFamily="34" charset="-120"/>
              </a:rPr>
              <a:t>Web Application</a:t>
            </a:r>
            <a:endParaRPr lang="en-US" sz="2160" dirty="0"/>
          </a:p>
        </p:txBody>
      </p:sp>
      <p:sp>
        <p:nvSpPr>
          <p:cNvPr id="13" name="Text 8"/>
          <p:cNvSpPr/>
          <p:nvPr/>
        </p:nvSpPr>
        <p:spPr>
          <a:xfrm>
            <a:off x="9560004" y="5696426"/>
            <a:ext cx="3749040" cy="790099"/>
          </a:xfrm>
          <a:prstGeom prst="rect">
            <a:avLst/>
          </a:prstGeom>
          <a:noFill/>
        </p:spPr>
        <p:txBody>
          <a:bodyPr wrap="square" rtlCol="0" anchor="t"/>
          <a:lstStyle/>
          <a:p>
            <a:pPr marL="0" indent="0" algn="l">
              <a:lnSpc>
                <a:spcPts val="3110"/>
              </a:lnSpc>
              <a:buNone/>
            </a:pPr>
            <a:r>
              <a:rPr lang="en-US" sz="1945" dirty="0">
                <a:solidFill>
                  <a:srgbClr val="D7D4CC"/>
                </a:solidFill>
                <a:latin typeface="Raleway" pitchFamily="34" charset="0"/>
                <a:ea typeface="Raleway" pitchFamily="34" charset="-122"/>
                <a:cs typeface="Raleway" pitchFamily="34" charset="-120"/>
              </a:rPr>
              <a:t>Gradio for deploying the model as a web application.</a:t>
            </a:r>
            <a:endParaRPr lang="en-US" sz="194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1198</Words>
  <Application>WPS Presentation</Application>
  <PresentationFormat>On-screen Show (16:9)</PresentationFormat>
  <Paragraphs>40</Paragraphs>
  <Slides>4</Slides>
  <Notes>4</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4</vt:i4>
      </vt:variant>
    </vt:vector>
  </HeadingPairs>
  <TitlesOfParts>
    <vt:vector size="19" baseType="lpstr">
      <vt:lpstr>Arial</vt:lpstr>
      <vt:lpstr>SimSun</vt:lpstr>
      <vt:lpstr>Wingdings</vt:lpstr>
      <vt:lpstr>Comfortaa</vt:lpstr>
      <vt:lpstr>Segoe Print</vt:lpstr>
      <vt:lpstr>Comfortaa</vt:lpstr>
      <vt:lpstr>Comfortaa</vt:lpstr>
      <vt:lpstr>Raleway</vt:lpstr>
      <vt:lpstr>Raleway</vt:lpstr>
      <vt:lpstr>Raleway</vt:lpstr>
      <vt:lpstr>Calibri</vt:lpstr>
      <vt:lpstr>Microsoft YaHei</vt:lpstr>
      <vt:lpstr>Arial Unicode MS</vt:lpstr>
      <vt:lpstr>MingLiU-ExtB</vt:lpstr>
      <vt:lpstr>Office Theme</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Naman</cp:lastModifiedBy>
  <cp:revision>2</cp:revision>
  <dcterms:created xsi:type="dcterms:W3CDTF">2024-08-10T10:38:00Z</dcterms:created>
  <dcterms:modified xsi:type="dcterms:W3CDTF">2024-08-10T10:40:38Z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B761EE1B5E574CF5AC96976E688E53B8_12</vt:lpwstr>
  </property>
  <property fmtid="{D5CDD505-2E9C-101B-9397-08002B2CF9AE}" pid="3" name="KSOProductBuildVer">
    <vt:lpwstr>1033-12.2.0.17153</vt:lpwstr>
  </property>
</Properties>
</file>